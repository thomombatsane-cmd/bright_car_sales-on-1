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 Price ($)</c:v>
                </c:pt>
              </c:strCache>
            </c:strRef>
          </c:tx>
          <c:spPr>
            <a:solidFill>
              <a:srgbClr val="C9A24B"/>
            </a:solidFill>
            <a:ln w="31750" cap="flat">
              <a:solidFill>
                <a:srgbClr val="C9A2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A24B"/>
              </a:solidFill>
              <a:ln w="9525" cap="flat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 '14</c:v>
                  </c:pt>
                  <c:pt idx="1">
                    <c:v>Feb '14</c:v>
                  </c:pt>
                  <c:pt idx="2">
                    <c:v>Dec '14</c:v>
                  </c:pt>
                  <c:pt idx="3">
                    <c:v>Jan '15</c:v>
                  </c:pt>
                  <c:pt idx="4">
                    <c:v>Feb '15</c:v>
                  </c:pt>
                  <c:pt idx="5">
                    <c:v>Mar '15</c:v>
                  </c:pt>
                  <c:pt idx="6">
                    <c:v>Apr '15</c:v>
                  </c:pt>
                  <c:pt idx="7">
                    <c:v>May '15</c:v>
                  </c:pt>
                  <c:pt idx="8">
                    <c:v>Jun '15</c:v>
                  </c:pt>
                  <c:pt idx="9">
                    <c:v>Jul '15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14906</c:v>
                </c:pt>
                <c:pt idx="1">
                  <c:v>10500</c:v>
                </c:pt>
                <c:pt idx="2">
                  <c:v>9917</c:v>
                </c:pt>
                <c:pt idx="3">
                  <c:v>11881</c:v>
                </c:pt>
                <c:pt idx="4">
                  <c:v>12222</c:v>
                </c:pt>
                <c:pt idx="5">
                  <c:v>12110</c:v>
                </c:pt>
                <c:pt idx="6">
                  <c:v>8877</c:v>
                </c:pt>
                <c:pt idx="7">
                  <c:v>12551</c:v>
                </c:pt>
                <c:pt idx="8">
                  <c:v>13425</c:v>
                </c:pt>
                <c:pt idx="9">
                  <c:v>16151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2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2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($k)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</c:v>
                  </c:pt>
                  <c:pt idx="1">
                    <c:v>CO</c:v>
                  </c:pt>
                  <c:pt idx="2">
                    <c:v>TN</c:v>
                  </c:pt>
                  <c:pt idx="3">
                    <c:v>IL</c:v>
                  </c:pt>
                  <c:pt idx="4">
                    <c:v>PA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</c:v>
                </c:pt>
                <c:pt idx="1">
                  <c:v>17.2</c:v>
                </c:pt>
                <c:pt idx="2">
                  <c:v>17</c:v>
                </c:pt>
                <c:pt idx="3">
                  <c:v>15.9</c:v>
                </c:pt>
                <c:pt idx="4">
                  <c:v>15.2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($k)</c:v>
                </c:pt>
              </c:strCache>
            </c:strRef>
          </c:tx>
          <c:spPr>
            <a:solidFill>
              <a:srgbClr val="C0563E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NM</c:v>
                  </c:pt>
                  <c:pt idx="1">
                    <c:v>OK</c:v>
                  </c:pt>
                  <c:pt idx="2">
                    <c:v>MA</c:v>
                  </c:pt>
                  <c:pt idx="3">
                    <c:v>MD</c:v>
                  </c:pt>
                  <c:pt idx="4">
                    <c:v>NC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6.6</c:v>
                </c:pt>
                <c:pt idx="2">
                  <c:v>7</c:v>
                </c:pt>
                <c:pt idx="3">
                  <c:v>7.1</c:v>
                </c:pt>
                <c:pt idx="4">
                  <c:v>7.8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&quot;$&quot;#,##0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Lexus</c:v>
                  </c:pt>
                  <c:pt idx="1">
                    <c:v>Honda</c:v>
                  </c:pt>
                  <c:pt idx="2">
                    <c:v>Infiniti</c:v>
                  </c:pt>
                  <c:pt idx="3">
                    <c:v>Dodge</c:v>
                  </c:pt>
                  <c:pt idx="4">
                    <c:v>Mercedes-Benz</c:v>
                  </c:pt>
                  <c:pt idx="5">
                    <c:v>BMW</c:v>
                  </c:pt>
                  <c:pt idx="6">
                    <c:v>Toyota</c:v>
                  </c:pt>
                  <c:pt idx="7">
                    <c:v>Nissan</c:v>
                  </c:pt>
                  <c:pt idx="8">
                    <c:v>Chevrolet</c:v>
                  </c:pt>
                  <c:pt idx="9">
                    <c:v>Ford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240.6</c:v>
                </c:pt>
                <c:pt idx="1">
                  <c:v>297.6</c:v>
                </c:pt>
                <c:pt idx="2">
                  <c:v>312.5</c:v>
                </c:pt>
                <c:pt idx="3">
                  <c:v>344.1</c:v>
                </c:pt>
                <c:pt idx="4">
                  <c:v>370.1</c:v>
                </c:pt>
                <c:pt idx="5">
                  <c:v>444.3</c:v>
                </c:pt>
                <c:pt idx="6">
                  <c:v>488.4</c:v>
                </c:pt>
                <c:pt idx="7">
                  <c:v>633.3</c:v>
                </c:pt>
                <c:pt idx="8">
                  <c:v>721</c:v>
                </c:pt>
                <c:pt idx="9">
                  <c:v>1360.3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D2E78"/>
            </a:solidFill>
            <a:effectLst/>
          </c:spPr>
          <c:invertIfNegative val="0"/>
          <c:dLbls>
            <c:numFmt formatCode="&quot;$&quot;#,##0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Chev. Silverado 1500</c:v>
                  </c:pt>
                  <c:pt idx="1">
                    <c:v>Ford Edge</c:v>
                  </c:pt>
                  <c:pt idx="2">
                    <c:v>BMW 3 Series</c:v>
                  </c:pt>
                  <c:pt idx="3">
                    <c:v>Toyota Camry</c:v>
                  </c:pt>
                  <c:pt idx="4">
                    <c:v>Ford Explorer</c:v>
                  </c:pt>
                  <c:pt idx="5">
                    <c:v>Infiniti G Sedan</c:v>
                  </c:pt>
                  <c:pt idx="6">
                    <c:v>Ford Fusion</c:v>
                  </c:pt>
                  <c:pt idx="7">
                    <c:v>Ford Escape</c:v>
                  </c:pt>
                  <c:pt idx="8">
                    <c:v>Nissan Altima</c:v>
                  </c:pt>
                  <c:pt idx="9">
                    <c:v>Ford F-150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107.3</c:v>
                </c:pt>
                <c:pt idx="1">
                  <c:v>110.9</c:v>
                </c:pt>
                <c:pt idx="2">
                  <c:v>137.9</c:v>
                </c:pt>
                <c:pt idx="3">
                  <c:v>140.2</c:v>
                </c:pt>
                <c:pt idx="4">
                  <c:v>140.3</c:v>
                </c:pt>
                <c:pt idx="5">
                  <c:v>147.9</c:v>
                </c:pt>
                <c:pt idx="6">
                  <c:v>159.9</c:v>
                </c:pt>
                <c:pt idx="7">
                  <c:v>165.9</c:v>
                </c:pt>
                <c:pt idx="8">
                  <c:v>221</c:v>
                </c:pt>
                <c:pt idx="9">
                  <c:v>272.7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P/L ($M)</c:v>
                </c:pt>
              </c:strCache>
            </c:strRef>
          </c:tx>
          <c:spPr>
            <a:solidFill>
              <a:srgbClr val="C0563E"/>
            </a:solidFill>
            <a:effectLst/>
          </c:spPr>
          <c:invertIfNegative val="0"/>
          <c:dLbls>
            <c:numFmt formatCode="&quot;$&quot;#,##0.0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Kia</c:v>
                  </c:pt>
                  <c:pt idx="1">
                    <c:v>BMW</c:v>
                  </c:pt>
                  <c:pt idx="2">
                    <c:v>Toyota</c:v>
                  </c:pt>
                  <c:pt idx="3">
                    <c:v>Chrysler</c:v>
                  </c:pt>
                  <c:pt idx="4">
                    <c:v>Hyundai</c:v>
                  </c:pt>
                  <c:pt idx="5">
                    <c:v>Mercedes-Benz</c:v>
                  </c:pt>
                  <c:pt idx="6">
                    <c:v>Dodge</c:v>
                  </c:pt>
                  <c:pt idx="7">
                    <c:v>Nissan</c:v>
                  </c:pt>
                  <c:pt idx="8">
                    <c:v>Chevrolet</c:v>
                  </c:pt>
                  <c:pt idx="9">
                    <c:v>Ford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-2.6</c:v>
                </c:pt>
                <c:pt idx="1">
                  <c:v>-2.6</c:v>
                </c:pt>
                <c:pt idx="2">
                  <c:v>-4</c:v>
                </c:pt>
                <c:pt idx="3">
                  <c:v>-4.1</c:v>
                </c:pt>
                <c:pt idx="4">
                  <c:v>-4.8</c:v>
                </c:pt>
                <c:pt idx="5">
                  <c:v>-5.4</c:v>
                </c:pt>
                <c:pt idx="6">
                  <c:v>-6.4</c:v>
                </c:pt>
                <c:pt idx="7">
                  <c:v>-6.9</c:v>
                </c:pt>
                <c:pt idx="8">
                  <c:v>-10.4</c:v>
                </c:pt>
                <c:pt idx="9">
                  <c:v>-16.7</c:v>
                </c:pt>
              </c:numCache>
            </c:numRef>
          </c:val>
        </c:ser>
        <c:dLbls>
          <c:numFmt formatCode="&quot;$&quot;#,##0.0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P/L ($M)</c:v>
                </c:pt>
              </c:strCache>
            </c:strRef>
          </c:tx>
          <c:spPr>
            <a:solidFill>
              <a:srgbClr val="C0563E"/>
            </a:solidFill>
            <a:effectLst/>
          </c:spPr>
          <c:invertIfNegative val="0"/>
          <c:dLbls>
            <c:numFmt formatCode="&quot;$&quot;#,##0.00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4EEE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Hyundai Elantra</c:v>
                  </c:pt>
                  <c:pt idx="1">
                    <c:v>Ford Focus</c:v>
                  </c:pt>
                  <c:pt idx="2">
                    <c:v>Toyota Camry</c:v>
                  </c:pt>
                  <c:pt idx="3">
                    <c:v>Hyundai Sonata</c:v>
                  </c:pt>
                  <c:pt idx="4">
                    <c:v>Ford Explorer</c:v>
                  </c:pt>
                  <c:pt idx="5">
                    <c:v>Chev. Malibu</c:v>
                  </c:pt>
                  <c:pt idx="6">
                    <c:v>Chev. Impala</c:v>
                  </c:pt>
                  <c:pt idx="7">
                    <c:v>Ford Escape</c:v>
                  </c:pt>
                  <c:pt idx="8">
                    <c:v>Ford Fusion</c:v>
                  </c:pt>
                  <c:pt idx="9">
                    <c:v>Ford F-150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-1.54</c:v>
                </c:pt>
                <c:pt idx="1">
                  <c:v>-1.57</c:v>
                </c:pt>
                <c:pt idx="2">
                  <c:v>-1.59</c:v>
                </c:pt>
                <c:pt idx="3">
                  <c:v>-1.73</c:v>
                </c:pt>
                <c:pt idx="4">
                  <c:v>-1.81</c:v>
                </c:pt>
                <c:pt idx="5">
                  <c:v>-1.82</c:v>
                </c:pt>
                <c:pt idx="6">
                  <c:v>-1.88</c:v>
                </c:pt>
                <c:pt idx="7">
                  <c:v>-1.95</c:v>
                </c:pt>
                <c:pt idx="8">
                  <c:v>-2.55</c:v>
                </c:pt>
                <c:pt idx="9">
                  <c:v>-2.9</c:v>
                </c:pt>
              </c:numCache>
            </c:numRef>
          </c:val>
        </c:ser>
        <c:dLbls>
          <c:numFmt formatCode="&quot;$&quot;#,##0.00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4EEE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E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Motors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E6C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Sales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846320"/>
            <a:ext cx="22860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Sales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of this Presentation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review of Bright Motors' commercial performance — designed to give the Head of Sales a clear view of where the business is winning, where it is losing money, and where to focus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448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638"/>
          </a:solidFill>
          <a:ln w="9525">
            <a:solidFill>
              <a:srgbClr val="E2DCC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09448" y="2606040"/>
            <a:ext cx="2606040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8048" y="29260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83768" y="3566160"/>
            <a:ext cx="4572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8048" y="370332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048" y="452628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units sold, and trends across the period.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98368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638"/>
          </a:solidFill>
          <a:ln w="9525">
            <a:solidFill>
              <a:srgbClr val="E2DCC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98368" y="2606040"/>
            <a:ext cx="2606040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26968" y="29260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672688" y="3566160"/>
            <a:ext cx="4572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26968" y="370332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&amp; Loss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26968" y="452628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Margins, costs, and overall profitability of the business.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7288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638"/>
          </a:solidFill>
          <a:ln w="9525">
            <a:solidFill>
              <a:srgbClr val="E2DCC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87288" y="2606040"/>
            <a:ext cx="2606040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15888" y="29260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461608" y="3566160"/>
            <a:ext cx="4572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15888" y="370332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Areas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5888" y="452628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segments, and regions outperforming the market.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76208" y="26060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638"/>
          </a:solidFill>
          <a:ln w="9525">
            <a:solidFill>
              <a:srgbClr val="E2DCC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976208" y="2606040"/>
            <a:ext cx="2606040" cy="10972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04808" y="29260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250528" y="3566160"/>
            <a:ext cx="45720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04808" y="370332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Areas of Concern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04808" y="452628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lines, declining margins, and risks to address.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noFill/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SALES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Sale Price — Monthly &amp; by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(USD) across reporting months, with a breakdown by state / province.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514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230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$12,301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230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978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6694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6694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Reported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442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158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158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/ Provinces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9906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3622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 2015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3622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Sale Price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10896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7589520" y="2788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— Avg Sale Price</a:t>
            </a:r>
            <a:endParaRPr lang="en-US" sz="11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7589520" y="310896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/>
          <p:nvPr/>
        </p:nvSpPr>
        <p:spPr>
          <a:xfrm>
            <a:off x="7589520" y="4617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— Areas of Concern</a:t>
            </a:r>
            <a:endParaRPr lang="en-US" sz="1100" dirty="0"/>
          </a:p>
        </p:txBody>
      </p:sp>
      <p:graphicFrame>
        <p:nvGraphicFramePr>
          <p:cNvPr id="22" name="Chart 2" descr=""/>
          <p:cNvGraphicFramePr/>
          <p:nvPr/>
        </p:nvGraphicFramePr>
        <p:xfrm>
          <a:off x="7589520" y="493776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noFill/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Review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REVENUE BY MAKE &amp;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— by Make &amp;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 revenue (USD) across all makes and models. Ford leads the portfolio; the F-150 is the single biggest revenue driver.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514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230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$7.61B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230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978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6694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6694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442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158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158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99068" y="182880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36228" y="188366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Ford F-150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36228" y="2286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Makes by Revenue ($M)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1089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400800" y="2788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E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Models by Revenue ($M)</a:t>
            </a:r>
            <a:endParaRPr lang="en-US" sz="12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6400800" y="3108960"/>
          <a:ext cx="533095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noFill/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Review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PROFIT &amp; LOSS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&amp; Loss — Where the Money Is Made and Lost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 across 462,182 transactions: a portfolio-wide loss driven by high-volume, low-margin core models. Win rate sits below 50%.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5148" y="18288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5148" y="1828800"/>
            <a:ext cx="73152" cy="868680"/>
          </a:xfrm>
          <a:prstGeom prst="rect">
            <a:avLst/>
          </a:prstGeom>
          <a:solidFill>
            <a:srgbClr val="C0563E"/>
          </a:solidFill>
          <a:ln w="12700">
            <a:solidFill>
              <a:srgbClr val="C0563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6316" y="1920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-$85.0M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6316" y="235915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 Loss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9788" y="18288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29788" y="1828800"/>
            <a:ext cx="73152" cy="868680"/>
          </a:xfrm>
          <a:prstGeom prst="rect">
            <a:avLst/>
          </a:prstGeom>
          <a:solidFill>
            <a:srgbClr val="6FA46A"/>
          </a:solidFill>
          <a:ln w="12700">
            <a:solidFill>
              <a:srgbClr val="6FA46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30956" y="1920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A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$234.0M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30956" y="235915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4428" y="18288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64428" y="1828800"/>
            <a:ext cx="73152" cy="868680"/>
          </a:xfrm>
          <a:prstGeom prst="rect">
            <a:avLst/>
          </a:prstGeom>
          <a:solidFill>
            <a:srgbClr val="C0563E"/>
          </a:solidFill>
          <a:ln w="12700">
            <a:solidFill>
              <a:srgbClr val="C0563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65596" y="1920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-$319.0M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65596" y="235915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Loss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99068" y="18288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050A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999068" y="1828800"/>
            <a:ext cx="73152" cy="86868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00236" y="1920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00236" y="235915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Sales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Loss-Making Makes ($M)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20040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2880360"/>
            <a:ext cx="53309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Loss-Making Models ($M)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400800" y="3200400"/>
          <a:ext cx="533095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noFill/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Review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4EEE0"/>
                </a:solidFill>
                <a:latin typeface="Arial"/>
              </a:rPr>
              <a:t>Profit Margin by Mileage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C47A"/>
                </a:solidFill>
                <a:latin typeface="Arial"/>
              </a:rPr>
              <a:t>Highest mileage to lowest — average margin per vehicle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498079" cy="457200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9A24C"/>
                </a:solidFill>
                <a:latin typeface="Arial"/>
              </a:rPr>
              <a:t>Average Profit Margin (sorted highest mileage → lowest)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884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200k+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188840"/>
            <a:ext cx="511118" cy="37149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4510" y="218884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$254k  · n=12,113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8033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150–200k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680330"/>
            <a:ext cx="705773" cy="37149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9165" y="268033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$350k  · n=34,731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7182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125–150k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171820"/>
            <a:ext cx="979975" cy="37149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3367" y="317182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$486k  · n=36,655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6331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100–125k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663310"/>
            <a:ext cx="1359803" cy="371490"/>
          </a:xfrm>
          <a:prstGeom prst="rect">
            <a:avLst/>
          </a:prstGeom>
          <a:solidFill>
            <a:srgbClr val="E6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3195" y="366331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$675k  · n=53,770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5480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75–100k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154800"/>
            <a:ext cx="1947779" cy="371490"/>
          </a:xfrm>
          <a:prstGeom prst="rect">
            <a:avLst/>
          </a:prstGeom>
          <a:solidFill>
            <a:srgbClr val="E6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171" y="415480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$967k  · n=65,472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4629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50–75k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646290"/>
            <a:ext cx="2698336" cy="371490"/>
          </a:xfrm>
          <a:prstGeom prst="rect">
            <a:avLst/>
          </a:prstGeom>
          <a:solidFill>
            <a:srgbClr val="E6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1728" y="464629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$1,339k  · n=85,857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3778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25–50k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5137780"/>
            <a:ext cx="3526966" cy="371490"/>
          </a:xfrm>
          <a:prstGeom prst="rect">
            <a:avLst/>
          </a:prstGeom>
          <a:solidFill>
            <a:srgbClr val="A9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0358" y="513778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$1,751k  · n=151,646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29270"/>
            <a:ext cx="123444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4EEE0"/>
                </a:solidFill>
                <a:latin typeface="Arial"/>
              </a:rPr>
              <a:t>0–25k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5629270"/>
            <a:ext cx="4206239" cy="371490"/>
          </a:xfrm>
          <a:prstGeom prst="rect">
            <a:avLst/>
          </a:prstGeom>
          <a:solidFill>
            <a:srgbClr val="A9B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1" y="5629270"/>
            <a:ext cx="2286000" cy="3714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0"/>
                </a:solidFill>
                <a:latin typeface="Arial"/>
              </a:rPr>
              <a:t>$2,088k  · n=118,461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554480"/>
            <a:ext cx="3383280" cy="457200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554480"/>
            <a:ext cx="60000" cy="4572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7373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4C"/>
                </a:solidFill>
                <a:latin typeface="Arial"/>
              </a:rPr>
              <a:t>Key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C47A"/>
                </a:solidFill>
                <a:latin typeface="Arial"/>
              </a:rPr>
              <a:t>◆ Strong negative trend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4688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EEE0"/>
                </a:solidFill>
                <a:latin typeface="Arial"/>
              </a:rPr>
              <a:t>Margin falls 88% from low-mileage to high-mileage vehicles.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9718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C47A"/>
                </a:solidFill>
                <a:latin typeface="Arial"/>
              </a:rPr>
              <a:t>◆ Correlation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246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EEE0"/>
                </a:solidFill>
                <a:latin typeface="Arial"/>
              </a:rPr>
              <a:t>Mileage vs margin: r = -0.58 (clear inverse relationship).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7490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C47A"/>
                </a:solidFill>
                <a:latin typeface="Arial"/>
              </a:rPr>
              <a:t>◆ Sweet spot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02336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EEE0"/>
                </a:solidFill>
                <a:latin typeface="Arial"/>
              </a:rPr>
              <a:t>0–25k miles average ~$2.09M margin per unit — premium tier.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5262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C47A"/>
                </a:solidFill>
                <a:latin typeface="Arial"/>
              </a:rPr>
              <a:t>◆ High-mileage drag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006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EEE0"/>
                </a:solidFill>
                <a:latin typeface="Arial"/>
              </a:rPr>
              <a:t>200k+ miles average ~$254k — 8× lower than fresh stock.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303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C47A"/>
                </a:solidFill>
                <a:latin typeface="Arial"/>
              </a:rPr>
              <a:t>◆ Portfolio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5778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EEE0"/>
                </a:solidFill>
                <a:latin typeface="Arial"/>
              </a:rPr>
              <a:t>$1,361k across 558,811 units sold.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3550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2C7"/>
                </a:solidFill>
                <a:latin typeface="Arial"/>
              </a:rPr>
              <a:t>Bright Motors  ·  Slide 6  ·  Profit Margin × Mileage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4EEE0"/>
                </a:solidFill>
                <a:latin typeface="Arial"/>
              </a:rPr>
              <a:t>Closing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C47A"/>
                </a:solidFill>
                <a:latin typeface="Arial"/>
              </a:rPr>
              <a:t>Bright Motors — Sales, Profitability &amp; Strategic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74552" cy="109728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0000" cy="109728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Arial"/>
              </a:rPr>
              <a:t>The 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EEE0"/>
                </a:solidFill>
                <a:latin typeface="Arial"/>
              </a:rPr>
              <a:t>Bright Motors moves volume across 96 makes and 973 models, but the portfolio is unprofitable: $7.61B revenue is offset by a $85.0M net loss, driven by aged, high-mileage stock and exposure to a small group of loss-making nameplates.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2706624" cy="219456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2706624" cy="50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C47A"/>
                </a:solidFill>
                <a:latin typeface="Arial"/>
              </a:rPr>
              <a:t>Sales &amp;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29000"/>
            <a:ext cx="234086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$7.61B revenue across 462k+ transactions. Strongest provincial footprints concentrated in a handful of regions — clear scale, uneven distribution.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2788920"/>
            <a:ext cx="2706624" cy="219456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2788920"/>
            <a:ext cx="2706624" cy="500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2971800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C47A"/>
                </a:solidFill>
                <a:latin typeface="Arial"/>
              </a:rPr>
              <a:t>Profitability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429000"/>
            <a:ext cx="234086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Net loss of $85.0M (47.5% win rate). Gross profit $234M is consumed by $319M in gross losses — a structural mix problem, not a pricing accident.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2788920"/>
            <a:ext cx="2706624" cy="219456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2788920"/>
            <a:ext cx="2706624" cy="50000"/>
          </a:xfrm>
          <a:prstGeom prst="rect">
            <a:avLst/>
          </a:prstGeom>
          <a:solidFill>
            <a:srgbClr val="E6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971800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C47A"/>
                </a:solidFill>
                <a:latin typeface="Arial"/>
              </a:rPr>
              <a:t>Mix Concentration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29000"/>
            <a:ext cx="234086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Ford leads both revenue ($1.36B) and losses (-$16.7M), with the F-150 the #1 model and #1 loss-maker. Risk and reward sit in the same SKUs.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3688" y="2788920"/>
            <a:ext cx="2706624" cy="219456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2788920"/>
            <a:ext cx="2706624" cy="50000"/>
          </a:xfrm>
          <a:prstGeom prst="rect">
            <a:avLst/>
          </a:prstGeom>
          <a:solidFill>
            <a:srgbClr val="6B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2971800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C47A"/>
                </a:solidFill>
                <a:latin typeface="Arial"/>
              </a:rPr>
              <a:t>Mileage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429000"/>
            <a:ext cx="2340864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Margin collapses 88% from &lt;25k to 200k+ miles (r = -0.58). Aged inventory is the single largest controllable lever on profitability.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11274552" cy="1371600"/>
          </a:xfrm>
          <a:prstGeom prst="rect">
            <a:avLst/>
          </a:prstGeom>
          <a:solidFill>
            <a:srgbClr val="0C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60000" cy="13716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9A24C"/>
                </a:solidFill>
                <a:latin typeface="Arial"/>
              </a:rPr>
              <a:t>Recommended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◆  Tighten inventory age limits — prioritise turning stock before it crosses the 75k-mile margin cliff.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692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◆  Re-price or de-list chronic loss-makers within the top-volume Ford / GM / Chrysler ranges.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533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◆  Rebalance regional buying toward provinces with above-average sell-through and margin.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60533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0"/>
                </a:solidFill>
                <a:latin typeface="Arial"/>
              </a:rPr>
              <a:t>◆  Re-forecast P&amp;L with a high-mileage discount curve baked in to stop unprofitable acquisitions at source.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29400"/>
            <a:ext cx="11274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9A24C"/>
                </a:solidFill>
                <a:latin typeface="Arial"/>
              </a:rPr>
              <a:t>Bright Motors has the scale. The next chapter is about discipline — on age, on mix, and on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Motors Car Sales</dc:title>
  <dc:subject>PptxGenJS Presentation</dc:subject>
  <dc:creator>PptxGenJS</dc:creator>
  <cp:lastModifiedBy>PptxGenJS</cp:lastModifiedBy>
  <cp:revision>1</cp:revision>
  <dcterms:created xsi:type="dcterms:W3CDTF">2026-04-29T18:49:09Z</dcterms:created>
  <dcterms:modified xsi:type="dcterms:W3CDTF">2026-04-29T18:49:09Z</dcterms:modified>
</cp:coreProperties>
</file>